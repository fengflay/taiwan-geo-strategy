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AI Market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D4AA"/>
              </a:solidFill>
              <a:effectLst/>
            </c:spPr>
          </c:dPt>
          <c:dPt>
            <c:idx val="1"/>
            <c:bubble3D val="0"/>
            <c:spPr>
              <a:solidFill>
                <a:srgbClr val="0EA5E9"/>
              </a:solidFill>
              <a:effectLst/>
            </c:spPr>
          </c:dPt>
          <c:dPt>
            <c:idx val="2"/>
            <c:bubble3D val="0"/>
            <c:spPr>
              <a:solidFill>
                <a:srgbClr val="8B5CF6"/>
              </a:solidFill>
              <a:effectLst/>
            </c:spPr>
          </c:dPt>
          <c:dPt>
            <c:idx val="3"/>
            <c:bubble3D val="0"/>
            <c:spPr>
              <a:solidFill>
                <a:srgbClr val="F59E0B"/>
              </a:solidFill>
              <a:effectLst/>
            </c:spPr>
          </c:dPt>
          <c:dPt>
            <c:idx val="4"/>
            <c:bubble3D val="0"/>
            <c:spPr>
              <a:solidFill>
                <a:srgbClr val="EF4444"/>
              </a:solidFill>
              <a:effectLst/>
            </c:spPr>
          </c:dPt>
          <c:dPt>
            <c:idx val="5"/>
            <c:bubble3D val="0"/>
            <c:spPr>
              <a:solidFill>
                <a:srgbClr val="64748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ChatGPT</c:v>
                </c:pt>
                <c:pt idx="1">
                  <c:v>Gemini</c:v>
                </c:pt>
                <c:pt idx="2">
                  <c:v>Perplexity</c:v>
                </c:pt>
                <c:pt idx="3">
                  <c:v>Claude</c:v>
                </c:pt>
                <c:pt idx="4">
                  <c:v>Copilot</c:v>
                </c:pt>
                <c:pt idx="5">
                  <c:v>其他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45</c:v>
                </c:pt>
                <c:pt idx="1">
                  <c:v>25</c:v>
                </c:pt>
                <c:pt idx="2">
                  <c:v>10</c:v>
                </c:pt>
                <c:pt idx="3">
                  <c:v>8</c:v>
                </c:pt>
                <c:pt idx="4">
                  <c:v>7</c:v>
                </c:pt>
                <c:pt idx="5">
                  <c:v>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CBD5E1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 提及率</c:v>
                </c:pt>
              </c:strCache>
            </c:strRef>
          </c:tx>
          <c:spPr>
            <a:solidFill>
              <a:srgbClr val="0EA5E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EA5E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A5E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EA5E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競品 A</c:v>
                  </c:pt>
                  <c:pt idx="1">
                    <c:v>競品 B</c:v>
                  </c:pt>
                  <c:pt idx="2">
                    <c:v>競品 C</c:v>
                  </c:pt>
                  <c:pt idx="3">
                    <c:v>您的品牌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75</c:v>
                </c:pt>
                <c:pt idx="1">
                  <c:v>60</c:v>
                </c:pt>
                <c:pt idx="2">
                  <c:v>45</c:v>
                </c:pt>
                <c:pt idx="3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11B2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64008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7373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 AI 主動推薦你的品牌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457200" y="2606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D4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GEO — Generative Engine Optimization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台灣企業 AI 搜尋能見度完整解決方案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62035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800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Confidential  |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36576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一個關鍵問題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1371600" y="1828800"/>
            <a:ext cx="6400800" cy="1463040"/>
          </a:xfrm>
          <a:prstGeom prst="rect">
            <a:avLst/>
          </a:prstGeom>
          <a:solidFill>
            <a:srgbClr val="162035"/>
          </a:solidFill>
          <a:ln w="12700">
            <a:solidFill>
              <a:srgbClr val="00D4A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645920" y="196596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ChatGPT</a:t>
            </a:r>
            <a:endParaRPr lang="en-US" sz="11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推薦台灣最好的 [你的產業] 解決方案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推薦了 5 個品牌... 但沒有你的公司。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35204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打開 ChatGPT，搜尋你的公司名稱——AI 認識你嗎？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 AI 搜尋時代，不被 AI 提及 ＝ 不存在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時代正在改變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2560320" cy="1828800"/>
          </a:xfrm>
          <a:prstGeom prst="rect">
            <a:avLst/>
          </a:prstGeom>
          <a:solidFill>
            <a:srgbClr val="162035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256032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344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D4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60%+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台灣 25-45 歲用戶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已使用 AI 搜尋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1051560"/>
            <a:ext cx="2560320" cy="1828800"/>
          </a:xfrm>
          <a:prstGeom prst="rect">
            <a:avLst/>
          </a:prstGeom>
          <a:solidFill>
            <a:srgbClr val="162035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0" y="1051560"/>
            <a:ext cx="256032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2344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EA5E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45%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3566160" y="21031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ChatGPT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台灣市佔率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051560"/>
            <a:ext cx="2560320" cy="1828800"/>
          </a:xfrm>
          <a:prstGeom prst="rect">
            <a:avLst/>
          </a:prstGeom>
          <a:solidFill>
            <a:srgbClr val="162035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051560"/>
            <a:ext cx="256032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2344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8B5C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90%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6400800" y="21031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企業不知道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GEO 是什麼</a:t>
            </a:r>
            <a:endParaRPr lang="en-US" sz="12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731520" y="3017520"/>
          <a:ext cx="384048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ext 14"/>
          <p:cNvSpPr/>
          <p:nvPr/>
        </p:nvSpPr>
        <p:spPr>
          <a:xfrm>
            <a:off x="4754880" y="320040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傳統 SEO 流量每年遞減 15-25%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搜尋量年成長 200%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什麼是 GEO？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Generative Engine Optimization — 讓 AI 搜尋引擎主動推薦你的品牌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17320"/>
          <a:ext cx="76809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926080"/>
                <a:gridCol w="29260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1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傳統 SEO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1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GEO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BD5E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目標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Google 搜尋排名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D4A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AI 回答中被推薦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2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BD5E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優化對象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網頁關鍵字+連結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D4A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語義實體+結構化資料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2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BD5E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觸及方式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用戶主動點擊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D4A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AI 主動推薦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2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BD5E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內容要求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SEO 友善格式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D4A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權威性+可驗證+多來源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2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BD5E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成效指標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排名、流量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D4A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AI 提及率、推薦位置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2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BD5E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競爭態勢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已是紅海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D4A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台灣市場空白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為什麼是現在？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7680960" cy="822960"/>
          </a:xfrm>
          <a:prstGeom prst="rect">
            <a:avLst/>
          </a:prstGeom>
          <a:solidFill>
            <a:srgbClr val="162035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1887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1097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先行者紅利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737360" y="14630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台灣 90% 企業不知 GEO，搶先佈局 = 獨佔 AI 推薦位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31520" y="2011680"/>
            <a:ext cx="7680960" cy="822960"/>
          </a:xfrm>
          <a:prstGeom prst="rect">
            <a:avLst/>
          </a:prstGeom>
          <a:solidFill>
            <a:srgbClr val="162035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4884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37360" y="20574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記憶先佔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737360" y="242316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的知識庫有「先佔優勢」——越早建立的品牌印象越根深蒂固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31520" y="2971800"/>
            <a:ext cx="7680960" cy="822960"/>
          </a:xfrm>
          <a:prstGeom prst="rect">
            <a:avLst/>
          </a:prstGeom>
          <a:solidFill>
            <a:srgbClr val="162035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10896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737360" y="3017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SEO 預算轉移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737360" y="33832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企業已有 SEO 預算，GEO 是自然的預算轉移對象，決策容易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731520" y="3931920"/>
            <a:ext cx="7680960" cy="822960"/>
          </a:xfrm>
          <a:prstGeom prst="rect">
            <a:avLst/>
          </a:prstGeom>
          <a:solidFill>
            <a:srgbClr val="162035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069080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737360" y="39776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繁中內容稀缺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737360" y="434340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繁體中文結構化內容少，更容易被 AI 引用，競爭門檻低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「就像 2015 年不做 SEO——不是馬上死，但會慢慢失去數位世界的發言權。」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如何選擇推薦的內容？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三層核心邏輯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651760" cy="3200400"/>
          </a:xfrm>
          <a:prstGeom prst="rect">
            <a:avLst/>
          </a:prstGeom>
          <a:solidFill>
            <a:srgbClr val="162035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25880"/>
            <a:ext cx="265176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7" name="Shape 5"/>
          <p:cNvSpPr/>
          <p:nvPr/>
        </p:nvSpPr>
        <p:spPr>
          <a:xfrm>
            <a:off x="1417320" y="1554480"/>
            <a:ext cx="731520" cy="73152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11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語義實體建立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92608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 AI 認識你是誰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品牌名、產品名、核心能力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建立清晰的實體關係圖譜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1325880"/>
            <a:ext cx="2651760" cy="3200400"/>
          </a:xfrm>
          <a:prstGeom prst="rect">
            <a:avLst/>
          </a:prstGeom>
          <a:solidFill>
            <a:srgbClr val="162035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1325880"/>
            <a:ext cx="265176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3" name="Shape 11"/>
          <p:cNvSpPr/>
          <p:nvPr/>
        </p:nvSpPr>
        <p:spPr>
          <a:xfrm>
            <a:off x="4343400" y="1554480"/>
            <a:ext cx="731520" cy="7315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4" name="Text 12"/>
          <p:cNvSpPr/>
          <p:nvPr/>
        </p:nvSpPr>
        <p:spPr>
          <a:xfrm>
            <a:off x="434340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11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566160" y="2423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RAG 可檢索性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66160" y="292608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 AI 能抓到你的內容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結構化、高品質內容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分散在多個權威來源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09360" y="1325880"/>
            <a:ext cx="2651760" cy="3200400"/>
          </a:xfrm>
          <a:prstGeom prst="rect">
            <a:avLst/>
          </a:prstGeom>
          <a:solidFill>
            <a:srgbClr val="162035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9360" y="1325880"/>
            <a:ext cx="265176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Shape 17"/>
          <p:cNvSpPr/>
          <p:nvPr/>
        </p:nvSpPr>
        <p:spPr>
          <a:xfrm>
            <a:off x="7269480" y="1554480"/>
            <a:ext cx="731520" cy="73152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0" name="Text 18"/>
          <p:cNvSpPr/>
          <p:nvPr/>
        </p:nvSpPr>
        <p:spPr>
          <a:xfrm>
            <a:off x="726948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11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492240" y="2423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交叉驗證通過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92240" y="292608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 AI 確認你是可信的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多來源、多平台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一致性的信源共振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01752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D4AA"/>
                </a:solidFill>
              </a:rPr>
              <a:t>→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94360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D4AA"/>
                </a:solidFill>
              </a:rPr>
              <a:t>→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只有三層都通過，AI 才會在回答中推薦你的品牌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現狀診斷：您的品牌 AI 能見度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7680960" cy="1097280"/>
          </a:xfrm>
          <a:prstGeom prst="rect">
            <a:avLst/>
          </a:prstGeom>
          <a:solidFill>
            <a:srgbClr val="162035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0515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能見度評分</a:t>
            </a:r>
            <a:endParaRPr lang="en-US" sz="1200" dirty="0"/>
          </a:p>
          <a:p>
            <a:pPr algn="ctr" indent="0" marL="0">
              <a:buNone/>
            </a:pPr>
            <a:r>
              <a:rPr lang="en-US" sz="4200" b="1" dirty="0">
                <a:solidFill>
                  <a:srgbClr val="EF44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 / 100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474720" y="109728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等級：D（嚴重不足）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 20 組產業問題中，僅被 AI 提及 3 次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推薦排序：未進入前 5 名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331720"/>
            <a:ext cx="7680960" cy="411480"/>
          </a:xfrm>
          <a:prstGeom prst="rect">
            <a:avLst/>
          </a:prstGeom>
          <a:solidFill>
            <a:srgbClr val="162035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331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品牌被提及率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0" y="2331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15%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0" y="2331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2834640"/>
            <a:ext cx="7680960" cy="411480"/>
          </a:xfrm>
          <a:prstGeom prst="rect">
            <a:avLst/>
          </a:prstGeom>
          <a:solidFill>
            <a:srgbClr val="111B2E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8346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推薦排序位置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74720" y="28346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未入榜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0" y="2834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3337560"/>
            <a:ext cx="7680960" cy="411480"/>
          </a:xfrm>
          <a:prstGeom prst="rect">
            <a:avLst/>
          </a:prstGeom>
          <a:solidFill>
            <a:srgbClr val="162035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3375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語意正負面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74720" y="33375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中性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0" y="3337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1520" y="3840480"/>
            <a:ext cx="7680960" cy="411480"/>
          </a:xfrm>
          <a:prstGeom prst="rect">
            <a:avLst/>
          </a:prstGeom>
          <a:solidFill>
            <a:srgbClr val="111B2E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3840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資訊準確度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74720" y="3840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60%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0" y="3840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31520" y="4343400"/>
            <a:ext cx="7680960" cy="411480"/>
          </a:xfrm>
          <a:prstGeom prst="rect">
            <a:avLst/>
          </a:prstGeom>
          <a:solidFill>
            <a:srgbClr val="162035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4343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結構化數據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74720" y="4343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0" y="43434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* 以上為模擬診斷結果，實際數據依免費深度診斷而定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競品 AI 能見度對比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31520" y="1005840"/>
          <a:ext cx="76809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39319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競品已搶佔 AI 推薦位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 20 組產業關鍵問題中，競品 A 出現 15 次（75%），而您僅出現 3 次（15%）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我們的方法：五步驟 GEO 執行框架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600200" cy="3108960"/>
          </a:xfrm>
          <a:prstGeom prst="rect">
            <a:avLst/>
          </a:prstGeom>
          <a:solidFill>
            <a:srgbClr val="162035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16002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3258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4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21488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自查診斷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83464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能見度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全面檢測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28800" y="21031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057400" y="1097280"/>
            <a:ext cx="1600200" cy="3108960"/>
          </a:xfrm>
          <a:prstGeom prst="rect">
            <a:avLst/>
          </a:prstGeom>
          <a:solidFill>
            <a:srgbClr val="162035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57400" y="1097280"/>
            <a:ext cx="16002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2057400" y="13258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A5E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148840" y="21488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關鍵詞圖譜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148840" y="283464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鎖定 AI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搜尋戰場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11880" y="21031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840480" y="1097280"/>
            <a:ext cx="1600200" cy="3108960"/>
          </a:xfrm>
          <a:prstGeom prst="rect">
            <a:avLst/>
          </a:prstGeom>
          <a:solidFill>
            <a:srgbClr val="162035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40480" y="1097280"/>
            <a:ext cx="16002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3840480" y="13258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B5C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3931920" y="21488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內容矩陣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931920" y="283464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生產高品質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GEO 內容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94960" y="21031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5623560" y="1097280"/>
            <a:ext cx="1600200" cy="3108960"/>
          </a:xfrm>
          <a:prstGeom prst="rect">
            <a:avLst/>
          </a:prstGeom>
          <a:solidFill>
            <a:srgbClr val="162035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623560" y="1097280"/>
            <a:ext cx="16002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5623560" y="13258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5715000" y="21488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全網佈局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715000" y="283464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多平台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權威分發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78040" y="21031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7406640" y="1097280"/>
            <a:ext cx="1600200" cy="3108960"/>
          </a:xfrm>
          <a:prstGeom prst="rect">
            <a:avLst/>
          </a:prstGeom>
          <a:solidFill>
            <a:srgbClr val="162035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406640" y="1097280"/>
            <a:ext cx="16002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0" name="Text 28"/>
          <p:cNvSpPr/>
          <p:nvPr/>
        </p:nvSpPr>
        <p:spPr>
          <a:xfrm>
            <a:off x="7406640" y="13258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4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7498080" y="21488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監測迭代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498080" y="283464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數據驅動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持續優化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系統化執行，數據可追蹤，每一步都有 KPI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具體做什麼？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3931920" cy="530352"/>
          </a:xfrm>
          <a:prstGeom prst="rect">
            <a:avLst/>
          </a:prstGeom>
          <a:solidFill>
            <a:srgbClr val="16203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5156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960120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能見度深度診斷報告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600200"/>
            <a:ext cx="3931920" cy="530352"/>
          </a:xfrm>
          <a:prstGeom prst="rect">
            <a:avLst/>
          </a:prstGeom>
          <a:solidFill>
            <a:srgbClr val="162035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164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1600200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關鍵詞圖譜建立（20-100+ 組）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57200" y="2240280"/>
            <a:ext cx="3931920" cy="530352"/>
          </a:xfrm>
          <a:prstGeom prst="rect">
            <a:avLst/>
          </a:prstGeom>
          <a:solidFill>
            <a:srgbClr val="162035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331720"/>
            <a:ext cx="320040" cy="320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97280" y="2240280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官網 JSON-LD Schema 結構化標記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457200" y="2880360"/>
            <a:ext cx="3931920" cy="530352"/>
          </a:xfrm>
          <a:prstGeom prst="rect">
            <a:avLst/>
          </a:prstGeom>
          <a:solidFill>
            <a:srgbClr val="162035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971800"/>
            <a:ext cx="320040" cy="3200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97280" y="2880360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GEO 優化文章撰寫（月 2-12 篇）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457200" y="3520440"/>
            <a:ext cx="3931920" cy="530352"/>
          </a:xfrm>
          <a:prstGeom prst="rect">
            <a:avLst/>
          </a:prstGeom>
          <a:solidFill>
            <a:srgbClr val="162035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611880"/>
            <a:ext cx="320040" cy="32004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97280" y="3520440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FAQ 知識庫建置（30+ 題）</a:t>
            </a:r>
            <a:endParaRPr lang="en-US" sz="1300" dirty="0"/>
          </a:p>
        </p:txBody>
      </p:sp>
      <p:sp>
        <p:nvSpPr>
          <p:cNvPr id="19" name="Shape 12"/>
          <p:cNvSpPr/>
          <p:nvPr/>
        </p:nvSpPr>
        <p:spPr>
          <a:xfrm>
            <a:off x="4754880" y="960120"/>
            <a:ext cx="3931920" cy="530352"/>
          </a:xfrm>
          <a:prstGeom prst="rect">
            <a:avLst/>
          </a:prstGeom>
          <a:solidFill>
            <a:srgbClr val="162035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1051560"/>
            <a:ext cx="320040" cy="32004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394960" y="960120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多平台權威內容分發</a:t>
            </a:r>
            <a:endParaRPr lang="en-US" sz="1300" dirty="0"/>
          </a:p>
        </p:txBody>
      </p:sp>
      <p:sp>
        <p:nvSpPr>
          <p:cNvPr id="22" name="Shape 14"/>
          <p:cNvSpPr/>
          <p:nvPr/>
        </p:nvSpPr>
        <p:spPr>
          <a:xfrm>
            <a:off x="4754880" y="1600200"/>
            <a:ext cx="3931920" cy="530352"/>
          </a:xfrm>
          <a:prstGeom prst="rect">
            <a:avLst/>
          </a:prstGeom>
          <a:solidFill>
            <a:srgbClr val="162035"/>
          </a:solidFill>
          <a:ln/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1691640"/>
            <a:ext cx="320040" cy="32004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5394960" y="1600200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維基百科條目建立/優化</a:t>
            </a:r>
            <a:endParaRPr lang="en-US" sz="1300" dirty="0"/>
          </a:p>
        </p:txBody>
      </p:sp>
      <p:sp>
        <p:nvSpPr>
          <p:cNvPr id="25" name="Shape 16"/>
          <p:cNvSpPr/>
          <p:nvPr/>
        </p:nvSpPr>
        <p:spPr>
          <a:xfrm>
            <a:off x="4754880" y="2240280"/>
            <a:ext cx="3931920" cy="530352"/>
          </a:xfrm>
          <a:prstGeom prst="rect">
            <a:avLst/>
          </a:prstGeom>
          <a:solidFill>
            <a:srgbClr val="162035"/>
          </a:solidFill>
          <a:ln/>
        </p:spPr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2331720"/>
            <a:ext cx="320040" cy="32004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394960" y="2240280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競品 AI 能見度對比分析</a:t>
            </a:r>
            <a:endParaRPr lang="en-US" sz="1300" dirty="0"/>
          </a:p>
        </p:txBody>
      </p:sp>
      <p:sp>
        <p:nvSpPr>
          <p:cNvPr id="28" name="Shape 18"/>
          <p:cNvSpPr/>
          <p:nvPr/>
        </p:nvSpPr>
        <p:spPr>
          <a:xfrm>
            <a:off x="4754880" y="2880360"/>
            <a:ext cx="3931920" cy="530352"/>
          </a:xfrm>
          <a:prstGeom prst="rect">
            <a:avLst/>
          </a:prstGeom>
          <a:solidFill>
            <a:srgbClr val="162035"/>
          </a:solidFill>
          <a:ln/>
        </p:spPr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37760" y="2971800"/>
            <a:ext cx="320040" cy="320040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5394960" y="2880360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引用率監測與月報</a:t>
            </a:r>
            <a:endParaRPr lang="en-US" sz="1300" dirty="0"/>
          </a:p>
        </p:txBody>
      </p:sp>
      <p:sp>
        <p:nvSpPr>
          <p:cNvPr id="31" name="Shape 20"/>
          <p:cNvSpPr/>
          <p:nvPr/>
        </p:nvSpPr>
        <p:spPr>
          <a:xfrm>
            <a:off x="4754880" y="3520440"/>
            <a:ext cx="3931920" cy="530352"/>
          </a:xfrm>
          <a:prstGeom prst="rect">
            <a:avLst/>
          </a:prstGeom>
          <a:solidFill>
            <a:srgbClr val="162035"/>
          </a:solidFill>
          <a:ln/>
        </p:spPr>
      </p:sp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37760" y="3611880"/>
            <a:ext cx="320040" cy="320040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5394960" y="3520440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英文版內容（國際 AI 平台）</a:t>
            </a:r>
            <a:endParaRPr lang="en-US" sz="1300" dirty="0"/>
          </a:p>
        </p:txBody>
      </p:sp>
      <p:sp>
        <p:nvSpPr>
          <p:cNvPr id="34" name="Shape 22"/>
          <p:cNvSpPr/>
          <p:nvPr/>
        </p:nvSpPr>
        <p:spPr>
          <a:xfrm>
            <a:off x="457200" y="4297680"/>
            <a:ext cx="8229600" cy="640080"/>
          </a:xfrm>
          <a:prstGeom prst="rect">
            <a:avLst/>
          </a:prstGeom>
          <a:solidFill>
            <a:srgbClr val="0B2520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5" name="Text 23"/>
          <p:cNvSpPr/>
          <p:nvPr/>
        </p:nvSpPr>
        <p:spPr>
          <a:xfrm>
            <a:off x="731520" y="42976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D4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加值服務：危機監控（負面 AI 引用即時警報）、技術白皮書製作、專屬顧問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預期成效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51760" cy="3657600"/>
          </a:xfrm>
          <a:prstGeom prst="rect">
            <a:avLst/>
          </a:prstGeom>
          <a:solidFill>
            <a:srgbClr val="162035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265176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30 天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引用率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4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5-10%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40080" y="283464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基礎建設完成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Schema 上線、首批內容發布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100+ 潛在客戶名單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1005840"/>
            <a:ext cx="2651760" cy="3657600"/>
          </a:xfrm>
          <a:prstGeom prst="rect">
            <a:avLst/>
          </a:prstGeom>
          <a:solidFill>
            <a:srgbClr val="162035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1005840"/>
            <a:ext cx="265176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11887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60 天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383280" y="17373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引用率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83280" y="20116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A5E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15-25%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566160" y="283464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影響力擴大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媒體曝光、KOL 合作啟動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300+ 累計名單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0" y="1005840"/>
            <a:ext cx="2651760" cy="3657600"/>
          </a:xfrm>
          <a:prstGeom prst="rect">
            <a:avLst/>
          </a:prstGeom>
          <a:solidFill>
            <a:srgbClr val="162035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9360" y="1005840"/>
            <a:ext cx="265176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11887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90 天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309360" y="17373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引用率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09360" y="20116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B5C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30%+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492240" y="283464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加速成長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穩定 AI 推薦、通路合作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月營收 NT$300K+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成功案例參考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7680960" cy="2103120"/>
          </a:xfrm>
          <a:prstGeom prst="rect">
            <a:avLst/>
          </a:prstGeom>
          <a:solidFill>
            <a:srgbClr val="162035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05840"/>
            <a:ext cx="73152" cy="21031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097280"/>
            <a:ext cx="7040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某台灣 B2B SaaS 企業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製造業數位轉型解決方案供應商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導入前：AI 提及率 0%，20 組問題完全未被推薦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00D4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導入後（6 個月）：AI 提及率 67%，成為 ChatGPT 產業推薦首選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成效：詢問量增加 340%，客戶質量提升（來自 AI 推薦的客戶轉化率高 3-5 倍）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3291840"/>
            <a:ext cx="2377440" cy="1371600"/>
          </a:xfrm>
          <a:prstGeom prst="rect">
            <a:avLst/>
          </a:prstGeom>
          <a:solidFill>
            <a:srgbClr val="162035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33832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0% → 67%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31520" y="4114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提及率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83280" y="3291840"/>
            <a:ext cx="2377440" cy="1371600"/>
          </a:xfrm>
          <a:prstGeom prst="rect">
            <a:avLst/>
          </a:prstGeom>
          <a:solidFill>
            <a:srgbClr val="162035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83280" y="33832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A5E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340%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383280" y="4114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詢問量增長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3291840"/>
            <a:ext cx="2377440" cy="1371600"/>
          </a:xfrm>
          <a:prstGeom prst="rect">
            <a:avLst/>
          </a:prstGeom>
          <a:solidFill>
            <a:srgbClr val="162035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35040" y="33832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3-5x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035040" y="4114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轉化率提升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服務方案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2697480" cy="4069080"/>
          </a:xfrm>
          <a:prstGeom prst="rect">
            <a:avLst/>
          </a:prstGeom>
          <a:solidFill>
            <a:srgbClr val="162035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269748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058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基礎版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13716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能見度啟動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69164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NT$25K-35K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011680" y="1783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/月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286000"/>
            <a:ext cx="2331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AI 能見度診斷報告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20 組關鍵詞圖譜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官網 Schema 標記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每月 2 篇 GEO 文章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3 平台分發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月度監測報告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731520"/>
            <a:ext cx="2697480" cy="4251960"/>
          </a:xfrm>
          <a:prstGeom prst="rect">
            <a:avLst/>
          </a:prstGeom>
          <a:solidFill>
            <a:srgbClr val="0F2340"/>
          </a:solidFill>
          <a:ln w="25400">
            <a:solidFill>
              <a:srgbClr val="0EA5E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731520"/>
            <a:ext cx="269748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3" name="Text 11"/>
          <p:cNvSpPr/>
          <p:nvPr/>
        </p:nvSpPr>
        <p:spPr>
          <a:xfrm>
            <a:off x="3931920" y="868680"/>
            <a:ext cx="1417320" cy="274320"/>
          </a:xfrm>
          <a:prstGeom prst="rect">
            <a:avLst/>
          </a:prstGeom>
          <a:solidFill>
            <a:srgbClr val="0EA5E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1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最受歡迎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91840" y="12344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進階版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291840" y="16002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引用成長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91840" y="192024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NT$50K-80K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937760" y="20116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/月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74720" y="2514600"/>
            <a:ext cx="2331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含基礎版全部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50 組關鍵詞圖譜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每月 4-6 篇文章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6-8 平台+權威媒體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維基百科條目優化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競品對比+雙週會議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0" y="822960"/>
            <a:ext cx="2697480" cy="4069080"/>
          </a:xfrm>
          <a:prstGeom prst="rect">
            <a:avLst/>
          </a:prstGeom>
          <a:solidFill>
            <a:srgbClr val="162035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822960"/>
            <a:ext cx="26974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10058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旗艦版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217920" y="13716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品牌霸佔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0" y="169164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NT$120K-200K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863840" y="1783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/月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0" y="2286000"/>
            <a:ext cx="2331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含進階版全部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100+ 關鍵詞矩陣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每月 8-12 篇深度內容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全渠道+新聞稿+專訪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英文版+危機監控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每週會議+專屬顧問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為什麼選擇我們？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023360" cy="1097280"/>
          </a:xfrm>
          <a:prstGeom prst="rect">
            <a:avLst/>
          </a:prstGeom>
          <a:solidFill>
            <a:srgbClr val="162035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097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台灣 GEO 先驅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371600" y="14630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台灣第一個專注 AI 搜尋能見度的行銷顧問團隊，深耕繁體中文市場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54880" y="1005840"/>
            <a:ext cx="4023360" cy="1097280"/>
          </a:xfrm>
          <a:prstGeom prst="rect">
            <a:avLst/>
          </a:prstGeom>
          <a:solidFill>
            <a:srgbClr val="162035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23444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669280" y="1097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 + 內容雙驅動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5669280" y="14630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結合 JSON-LD Schema 技術標記與權威內容策略，雙管齊下提升 AI 引用率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7200" y="2240280"/>
            <a:ext cx="4023360" cy="1097280"/>
          </a:xfrm>
          <a:prstGeom prst="rect">
            <a:avLst/>
          </a:prstGeom>
          <a:solidFill>
            <a:srgbClr val="162035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46888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2331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100% 合規承諾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371600" y="26974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嚴格遵循公平交易法、消保法、個資法，絕不使用灌水或操縱手段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754880" y="2240280"/>
            <a:ext cx="4023360" cy="1097280"/>
          </a:xfrm>
          <a:prstGeom prst="rect">
            <a:avLst/>
          </a:prstGeom>
          <a:solidFill>
            <a:srgbClr val="162035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468880"/>
            <a:ext cx="548640" cy="5486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669280" y="2331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數據透明可追蹤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5669280" y="26974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每月提供 AI 引用率監測報告，所有成效都有數據佐證，不打模糊仗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457200" y="3474720"/>
            <a:ext cx="4023360" cy="1097280"/>
          </a:xfrm>
          <a:prstGeom prst="rect">
            <a:avLst/>
          </a:prstGeom>
          <a:solidFill>
            <a:srgbClr val="162035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703320"/>
            <a:ext cx="548640" cy="5486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371600" y="3566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跨領域專家團隊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1371600" y="39319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SEO 策略、內容行銷、社群經營、前端技術、成長駭客五大專家協同作戰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4754880" y="3474720"/>
            <a:ext cx="4023360" cy="1097280"/>
          </a:xfrm>
          <a:prstGeom prst="rect">
            <a:avLst/>
          </a:prstGeom>
          <a:solidFill>
            <a:srgbClr val="162035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703320"/>
            <a:ext cx="548640" cy="54864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669280" y="3566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國際視野在地執行</a:t>
            </a:r>
            <a:endParaRPr lang="en-US" sz="1500" dirty="0"/>
          </a:p>
        </p:txBody>
      </p:sp>
      <p:sp>
        <p:nvSpPr>
          <p:cNvPr id="27" name="Text 19"/>
          <p:cNvSpPr/>
          <p:nvPr/>
        </p:nvSpPr>
        <p:spPr>
          <a:xfrm>
            <a:off x="5669280" y="39319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掌握國際 AI 平台趨勢，以台灣用語、台灣案例、台灣語境執行落地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45720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從今天開始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57200" y="2331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D4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 AI 認識你、信任你、推薦你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2286000" y="3017520"/>
            <a:ext cx="4572000" cy="731520"/>
          </a:xfrm>
          <a:prstGeom prst="rect">
            <a:avLst/>
          </a:prstGeom>
          <a:solidFill>
            <a:srgbClr val="00D4AA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2286000" y="30175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1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預約免費 AI 能見度深度診斷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57200" y="3931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30 分鐘免費諮詢  |  即時 AI 能見度檢測  |  客製化改善建議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聯繫方式：info@geo-taiwan.com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62035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800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GEO 在台灣仍處於市場認知的真空期——誰先建立認知連結，誰就取得先發優勢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台灣 GEO 服務提案</dc:title>
  <dc:subject>PptxGenJS Presentation</dc:subject>
  <dc:creator>GEO Taiwan</dc:creator>
  <cp:lastModifiedBy>GEO Taiwan</cp:lastModifiedBy>
  <cp:revision>1</cp:revision>
  <dcterms:created xsi:type="dcterms:W3CDTF">2026-03-17T08:27:22Z</dcterms:created>
  <dcterms:modified xsi:type="dcterms:W3CDTF">2026-03-17T08:27:22Z</dcterms:modified>
</cp:coreProperties>
</file>